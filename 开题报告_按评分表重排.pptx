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微软雅黑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微软雅黑"/>
              </a:rPr>
              <a:t>预算构成（万元）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5D"/>
              </a:solidFill>
              <a:effectLst/>
            </c:spPr>
          </c:dPt>
          <c:dPt>
            <c:idx val="1"/>
            <c:bubble3D val="0"/>
            <c:spPr>
              <a:solidFill>
                <a:srgbClr val="1D7874"/>
              </a:solidFill>
              <a:effectLst/>
            </c:spPr>
          </c:dPt>
          <c:dPt>
            <c:idx val="2"/>
            <c:bubble3D val="0"/>
            <c:spPr>
              <a:solidFill>
                <a:srgbClr val="B08333"/>
              </a:solidFill>
              <a:effectLst/>
            </c:spPr>
          </c:dPt>
          <c:dPt>
            <c:idx val="3"/>
            <c:bubble3D val="0"/>
            <c:spPr>
              <a:solidFill>
                <a:srgbClr val="5A6B7B"/>
              </a:solidFill>
              <a:effectLst/>
            </c:spPr>
          </c:dPt>
          <c:dPt>
            <c:idx val="4"/>
            <c:bubble3D val="0"/>
            <c:spPr>
              <a:solidFill>
                <a:srgbClr val="A9B8C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材料费</c:v>
                </c:pt>
                <c:pt idx="1">
                  <c:v>测试化验加工费</c:v>
                </c:pt>
                <c:pt idx="2">
                  <c:v>劳务费</c:v>
                </c:pt>
                <c:pt idx="3">
                  <c:v>出版/文献费</c:v>
                </c:pt>
                <c:pt idx="4">
                  <c:v>差旅费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6.95</c:v>
                </c:pt>
                <c:pt idx="1">
                  <c:v>5.9</c:v>
                </c:pt>
                <c:pt idx="2">
                  <c:v>1.1</c:v>
                </c:pt>
                <c:pt idx="3">
                  <c:v>0.5</c:v>
                </c:pt>
                <c:pt idx="4">
                  <c:v>0.4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 24–26 分钟。开场一句：各位老师好，我汇报的题目是……本课题围绕慢性间歇性低氧如何通过内质网-线粒体接触点的几何重塑放大海马神经元损伤、以及半夏厚朴汤能否通过纠正该重塑发挥保护展开。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开门见山说明：本次汇报的顺序与各位手上评分表的板块顺序一致，方便对照打分。分值最高的是第四部分文献综述及研究基础（30 分），其中包含已完成的综述与预实验结果。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第一部分，约 5 分钟。对应评分表 A 栏的四项细目：选题来源、研究内容及重点解决的问题、理论意义及应用价值、预期目标。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分钟部分的第一页。要点是治疗缺口：CPAP 只解决气道阻塞，对已形成的神经损伤逆转有限。注意口径：CIH 是 OSA 的重要成分，不是其完整实验替代——被问到时要能答。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这一页是为第 6 页的切入点做铺垫。核心一句：现有研究回答了『发生了什么』，没回答『从何处启动、为何在特定细胞器区域被放大』。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务必讲清『空间首发热点』与『时间起始事件』的区别。Sassano 2025 证明的是空间热点；在时间上局部过氧化先于接触扩张。这个区分是本课题与综述口径一致的关键，也是最容易被追问的一点。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表述纪律是本页的核心，也是与已完成综述保持口径一致的关键。若被问『你到底认为几何是不是起因』——答：这正是本课题要判定的问题之一，判据来自队列 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三问是现象 → 因果 → 机制的递进。第②问的措辞已按综述口径改为三选一，而不是二选一。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配合右侧 L1–L4 证据金字塔讲：即使局部失败，L1 仍可独立成文。这是分层设计降低『全链条同时失败』风险的体现。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条（振荡接触模型）是最具原创性的一条，若时间紧只讲这一条。可行性四点讲快。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组四项细目在此收口。预期成果不要说过头：SCI 论文 ≥1 篇是稳妥表述。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是必胜底：即使 L2–L4 都不理想，BHD 逆转 CIH-ERMCS 病理重塑本身仍可独立成文。这一层设计是可行性的核心保障。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第二部分，约 9 分钟，篇幅最大。对应评分表 B 栏：拟采取的研究方法、技术路线、总体安排与计划进度。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组得分最重的一页，务必单独占满一页、字号 ≥18。讲的时候按箭头顺序走一遍，中间的 M6 决策会议要点出来，它是全课题的关键节点。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队列 B 不做行为学是为了避免应激干扰组学，这一点要主动说。总动物数 52 只 + 15% 备用 = 购买 60 只，与预算页对得上。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先讲统计学理由（30 秒），再翻到下一页讲化学理由——那才是真正有分量的。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全场最值得讲透的一页，约 45 秒。核心一句：缺氧相在攒底物，复氧相才真正开始烧。所以决定损伤的不是平均氧分压，而是复氧转换的次数和陡度——这恰好就是 CIH 与持续低氧的区别。讲稿全文见 docs/综述整合到PPT.md §6。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剂量出处要讲清：7.01 g/kg 是文献三剂量梯度中的中剂量，且在两项独立研究中均为最优——不是我们自己定的。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终点三级分层是 B 组的关键得分点，必须单独成表展示，并强调『揭盲前锁定』。术语注一句话带过，但能显示功底。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『全组配平铁律』是本页要留在评委脑子里的一句话。若被问 2D vs 3D EM，转到第 27 页风险表的 S1 主动交代。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这一页看起来是技术细节，但它是『方法学准备充分』最有力的证据之一。主动讲，别等被问。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双轴生信是本页重点：第一轴问『ERMCS 相关蛋白是否被富集』，第二轴问『下游是哪条通路』。两轴分开讲。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情形 G 与情形 H 是本页必讲的两条。特别是 G：阴性亦为结论，不得反复调参直到出现差异——这句话主动说出来，评委会记住。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强调统计单位：独立实验次数才是 n，复孔只降技术噪声。这是细胞实验最常被挑的点。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最后一条呼应必须讲出来：综述里提判据、课题里做验证，连成闭环。这是全场最能体现研究者连续思考的一处。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『实验单位是动物，不是接触点』这句一定要说。它同时呼应课题组综述 §7.1 的方法学要求。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S1–S3 三项要主动讲。统一话术：这不是遗漏，是我自己在综述里对这个领域提出的完整判据；本课题在博士学位论文的资源边界内，先完成其中可判别性最高的部分。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M6 决策会议是关键节点，用醒目色标出。预实验 P1–P4 与 M1–M2 的动物到位、伦理报批、质粒订购并行，不占用主队列档期——被问「预实验会不会拖慢进度」时这样答。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第三部分，约 2 分钟。对应评分表 C 栏三项细目，讲快一点，重点在落实状态。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把技术成熟度分级讲出来：多数是成熟技术，TEM 与组学要求高但已有降低波动的四项措施。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落实策略是本页重点：核心问题优先、拓展验证递进。这样即使经费执行有波动，主线也能保证完成。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第四部分，约 8 分钟，分值最高。前半是文献综述，后半是研究基础（综述 + 预实验）。预实验四页是本部分的实证支撑。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组『文献查阅情况』的得分要件。检索式必须能当场复述。若被问命中篇数与精读篇数，须填真实数字，不得估算。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这一页把『读过文献』升级为『对文献做了分级评估』，直击 D 组『综合分析运用资料的能力』。要点：跨系统外推的推理距离显式可见，而不是隐含。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三个里程碑要能一口气讲下来。最后一条的补注是本页重点，也是与第 7 页假说表述纪律呼应的地方。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这是文献综述部分最重要的一页。注意强调：提示破坏的两项恰是『间歇低氧 + 哺乳动物在体』，与本模型最接近。Jiang 2026 要单独交代，它是目前最强的 contact-upstream 证据，主动说出来比被问出来好。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B 组『科研思维严谨』的顶级材料。最右一列是重点——主动写明什么结果会推翻自己的模型。讲稿约 30 秒，见 docs/综述整合到PPT.md §5。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最后一条是综述自己提出的判据，务必讲——它直接引出第 25 页 G9 vs G6 的设计（本版页码不变）。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组 30 分的核心页。开口第一句就讲综述：本课题的科学问题不是临时想到的，是我系统梳理这个领域之后自己提出并写成文章的框架。讲稿见 docs/综述整合到PPT.md §4。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先讲造模成立：三组增重完全不重叠，CIH 较 Sham 少 41.9%。然后主动交代 CIH+BHD 增重比 CIH 更低这件事——不讲的话评委看表就会问。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这是本轮最有分量的一组结果。四项指标方向完全一致，且都达到预设的方向性信号标准。要点出相关分析：这些差异与体重无关（|r|≤0.13），否则评委会怀疑是掉体重掉出来的。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主动把问题讲出来。关键一句：正常对照组自己都没有表现出可靠的新物体偏好，那么任何组间比较都不可解释。藏着不讲，一句「你对照组的 DI 显著吗」就会当场暴露。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这一页是加分项。六条局限都是自己查出来的，且每条都有对应修正。最后的 No-Go 规则要讲：TEM 的 EMCS 量化才是决定主实验能否开展的唯一核心指标，行为学本轮未获支持不构成 No-Go。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本页的重点在最右一列：每一项都有不通过时的处置路径。收尾一句——关键假设不存在「赌一把」的环节。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第五部分，约 1 分钟。对应评分表 E 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总结页停留久一点，让评委把三句话看完。最后一句自然过渡到致谢。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汇报结束。进入提问环节后，备用页 B1–B10 按需调出。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2588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博士学位论文开题报告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半夏厚朴汤调节内质网-线粒体接触点几何重塑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改善慢性间歇性低氧海马认知障碍的机制研究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657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ERMCS · 脂质过氧化传播与放大 · 距离梯度因果验证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汇报人：骆　玲　　2025 级同等学历专业博士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　师：吕　洋　教授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　业：老年医学　　研究方向：睡眠呼吸障碍与神经损伤机制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汇报日期：【填】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按《重庆医科大学研究生学位论文开题报告评分指标》的五个考核板块组织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545738" cy="2217420"/>
          </a:xfrm>
          <a:prstGeom prst="roundRect">
            <a:avLst>
              <a:gd name="adj" fmla="val 28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1572768"/>
            <a:ext cx="325313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　20 分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一、选题依据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选题来源 · 研究内容与重点解决的问题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理论意义及应用价值 · 预期目标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17420"/>
          </a:xfrm>
          <a:prstGeom prst="roundRect">
            <a:avLst>
              <a:gd name="adj" fmla="val 28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69282" y="1572768"/>
            <a:ext cx="325313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　20 分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二、研究方法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拟采取的研究方法 · 技术路线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总体安排与计划进度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43037" y="1463040"/>
            <a:ext cx="3545738" cy="2217420"/>
          </a:xfrm>
          <a:prstGeom prst="roundRect">
            <a:avLst>
              <a:gd name="adj" fmla="val 28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9341" y="1572768"/>
            <a:ext cx="325313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B08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　20 分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B08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三、研究条件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学术或技术条件 · 实验设备与平台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经费概算及落实情况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954780"/>
            <a:ext cx="3545738" cy="2217420"/>
          </a:xfrm>
          <a:prstGeom prst="roundRect">
            <a:avLst>
              <a:gd name="adj" fmla="val 28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" y="4064508"/>
            <a:ext cx="325313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　30 分　分值最高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四、文献综述及研究基础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本领域发展动态 · 文献查阅情况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已做调研情况（含初步研究结果）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2978" y="3954780"/>
            <a:ext cx="3545738" cy="2217420"/>
          </a:xfrm>
          <a:prstGeom prst="roundRect">
            <a:avLst>
              <a:gd name="adj" fmla="val 28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69282" y="4064508"/>
            <a:ext cx="325313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　10 分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五、总结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表达能力 · 总结与提炼能力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43037" y="3954780"/>
            <a:ext cx="3545738" cy="2217420"/>
          </a:xfrm>
          <a:prstGeom prst="roundRect">
            <a:avLst>
              <a:gd name="adj" fmla="val 28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89341" y="4064508"/>
            <a:ext cx="325313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本次汇报约 25 分钟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各部分时长按分值配比：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5 min · B 9 min · C 2 min · D 8 min · E 1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48840"/>
            <a:ext cx="960120" cy="868680"/>
          </a:xfrm>
          <a:prstGeom prst="roundRect">
            <a:avLst>
              <a:gd name="adj" fmla="val 10526"/>
            </a:avLst>
          </a:prstGeom>
          <a:solidFill>
            <a:srgbClr val="1D787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128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一、选题依据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27980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 20 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33101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临床问题 · 切入点 · 科学假说 · 关键问题 · 研究内容 · 创新点 · 预期目标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临床问题：阻塞性睡眠呼吸暂停相关认知障碍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0350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OSA 全球负担大，但认知损害在不同队列与神经心理域间高度异质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是 OSA 的核心病理生理成分，但不是其完整的实验替代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海马对反复低氧-复氧高度敏感：空间学习记忆下降、CA1 突触可塑性受损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即便去除缺氧刺激，认知恢复并不完全 → 有结构与分子基础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CPAP 纠正气道阻塞，对已成神经损伤逆转有限，且依从性问题突出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治疗缺口：需要从损伤机制层面寻找上游干预靶点</a:t>
            </a:r>
            <a:endParaRPr lang="en-US" sz="1400" dirty="0"/>
          </a:p>
        </p:txBody>
      </p:sp>
      <p:pic>
        <p:nvPicPr>
          <p:cNvPr id="8" name="Image 0" descr="figures/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07008"/>
            <a:ext cx="483077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现有机制研究的「平面化」困境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0350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现有机制集中于氧化应激、神经炎症、线粒体功能障碍、铁代谢紊乱、突触可塑性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多数研究停留在终末效应层面：测到了标志物的变化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但未回答：损伤从何处启动？为何在特定细胞器区域被放大？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亚细胞器空间结构层面的认识不足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 ERMCS 恰好同时参与脂质转运、钙交换、线粒体动力学与应激信号</a:t>
            </a:r>
            <a:endParaRPr lang="en-US" sz="1400" dirty="0"/>
          </a:p>
        </p:txBody>
      </p:sp>
      <p:pic>
        <p:nvPicPr>
          <p:cNvPr id="8" name="Image 0" descr="figures/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07008"/>
            <a:ext cx="483077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切入点：两条公开证据的衔接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立论基于近年公开发表的前沿证据，而非课题组既有数据——这一点在开题报告正文中已明确声明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603504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证据一：CIH 海马损伤的脂质过氧化—铁代谢—GPX4/ACSL4 级联已有较充分文献支持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证据二：Sassano 2025 Nat Cell Biol 证实 ERMCS 是磷脂过氧化的空间首发热点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两条证据衔接 → 提出以 ERMCS 为切入点解释 CIH 海马损伤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关键补注：在该研究中，局部磷脂氢过氧化物在时间上先于可测的接触扩张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故几何更宜理解为脂质过氧化「传播与放大」的控制变量，而非时间起始事件</a:t>
            </a:r>
            <a:endParaRPr lang="en-US" sz="1400" dirty="0"/>
          </a:p>
        </p:txBody>
      </p:sp>
      <p:pic>
        <p:nvPicPr>
          <p:cNvPr id="9" name="Image 0" descr="figures/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81328"/>
            <a:ext cx="4830775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科学假说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反复低氧-复氧暴露 → 海马 CA1 锥体神经元 ERMCS 几何病理性重塑（方向不预设）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形成更易发生磷脂过氧化的脂质微域 → 放大神经元损伤 → 海马依赖性认知障碍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BHD 通过使 ERMCS 几何趋向 Sham 水平，降低脂质过氧化敏感性，并经由无偏组学判定的下游通路发挥保护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898648"/>
            <a:ext cx="6583680" cy="2395728"/>
          </a:xfrm>
          <a:prstGeom prst="roundRect">
            <a:avLst>
              <a:gd name="adj" fmla="val 2672"/>
            </a:avLst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0175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表述纪律（与课题组综述一致）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空间上：ERMCS 是磷脂过氧化的首发热点与反应微域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时间上：局部过氧化可先于接触扩张 → 几何控制「传播与放大」，不主张其为起始事件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driver 与 amplifier 之争本身是本课题待判定的问题之一，判据来自队列 C 的周期内时点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543153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末端环节的充分性证据：Hambright 2017 —— 成年前脑神经元 Gpx4 条件敲除即产生 MWM 空间学习记忆缺陷与海马神经退行</a:t>
            </a:r>
            <a:endParaRPr lang="en-US" sz="1150" dirty="0"/>
          </a:p>
        </p:txBody>
      </p:sp>
      <p:pic>
        <p:nvPicPr>
          <p:cNvPr id="11" name="Image 0" descr="figures/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07008"/>
            <a:ext cx="428213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拟解决的关键科学问题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545738" cy="3154680"/>
          </a:xfrm>
          <a:prstGeom prst="roundRect">
            <a:avLst>
              <a:gd name="adj" fmla="val 20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25313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问题一 · 现象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是否存在可量化、可重复的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ERMCS 几何重塑？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对应模块一：TEM 五指标 ＋ 原位 PLA，队列 A / 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207008"/>
            <a:ext cx="3545738" cy="3154680"/>
          </a:xfrm>
          <a:prstGeom prst="roundRect">
            <a:avLst>
              <a:gd name="adj" fmla="val 20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1316736"/>
            <a:ext cx="325313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问题二 · 因果位置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该重塑处于何种因果位置？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起始事件、传播放大环节，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还是单纯的伴随现象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对应队列 C 的周期内时点与队列 A 慢性时点的对照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43037" y="1207008"/>
            <a:ext cx="3545738" cy="3154680"/>
          </a:xfrm>
          <a:prstGeom prst="roundRect">
            <a:avLst>
              <a:gd name="adj" fmla="val 20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9341" y="1316736"/>
            <a:ext cx="325313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问题三 · 机制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BHD 是否依赖调控 ERMCS 几何？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经何下游通路实现认知保护？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对应模块二组学筛选 ＋ 模块三 EML 距离梯度因果验证</a:t>
            </a:r>
            <a:endParaRPr lang="en-US" sz="1050" dirty="0"/>
          </a:p>
        </p:txBody>
      </p:sp>
      <p:pic>
        <p:nvPicPr>
          <p:cNvPr id="13" name="Image 0" descr="figures/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0"/>
            <a:ext cx="1118585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研究内容总览：四个模块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· 队列 A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表型与 ERMCS 形态学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行为学 ＋ 海马病理 ＋ TEM 五指标 ＋ 原位 PLA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25696" y="1207008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316736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 · 队列 B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CA1 子区 TMT 组学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显微切割 ＋ 16-plex ＋ 双轴生信 → 锁定下游执行通路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817620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927348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 · 队列 C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周期内动态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复氧相急性时点 vs 慢性时点，检验相位结构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25696" y="3817620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927348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模块四 · 体外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EML 距离梯度因果验证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HT22 + H/R；15/20/30 nm 三档；检验几何—表型剂量反应</a:t>
            </a:r>
            <a:endParaRPr lang="en-US" sz="1050" dirty="0"/>
          </a:p>
        </p:txBody>
      </p:sp>
      <p:pic>
        <p:nvPicPr>
          <p:cNvPr id="15" name="Image 0" descr="figures/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207008"/>
            <a:ext cx="327629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创新点与可行性分析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713232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首次在哺乳动物在体 CIH 海马中检验 ERMCS 几何的因果作用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确立其为脂质过氧化传播与放大的结构性控制变量；既有机制证据均来自非 CIH 细胞体系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提出并检验「振荡接触」模型，尝试调和文献中相互矛盾的终点观察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基于氧限制的链式反应，设周期内取材时点，与慢性时点构成急性-慢性对照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首次将 BHD 的神经保护与 ERMCS 结构重塑相联系，并预设严格的依赖性判据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G9 vs G6 即「几何被独立操控后保护是否仍存在」这一判据的直接实现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首次将 EML 距离梯度工具用于中枢神经系统药理学，且不预设剂量-反应形状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建立多层级证据体系并预先锁定统计终点层级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形态学 + 邻近检测 + 组学 + 距离梯度因果操控；以动物为生物学重复的嵌套模型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120700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01584" y="131673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①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临床问题明确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与认知障碍关系清晰，评价终点有现实意义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0" y="247573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01584" y="258546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②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理论支点新颖扎实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有一手核实的前沿证据与自建的可证伪框架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0" y="374446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01584" y="385419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③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分层设计降低风险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先结构、后组学、再因果，避免全链条同时失败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501319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01584" y="512292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④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平台与经费已落实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关键质粒可商购，四级获取路径已备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 · 应用价值 · 预期目标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545738" cy="4599432"/>
          </a:xfrm>
          <a:prstGeom prst="roundRect">
            <a:avLst>
              <a:gd name="adj" fmla="val 1805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25313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从通路验证推进到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亚细胞器互作微环境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CIH 海马损伤的解释层级，从并列的分子通路提升到细胞器接触几何这一空间层面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207008"/>
            <a:ext cx="3545738" cy="4599432"/>
          </a:xfrm>
          <a:prstGeom prst="roundRect">
            <a:avLst>
              <a:gd name="adj" fmla="val 1805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1316736"/>
            <a:ext cx="325313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应用价值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上游干预新靶点 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中医药现代机制依据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 OSA 相关认知障碍提供结构层面的干预方向；为半夏厚朴汤的临床再评价与二次开发提供实验依据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43037" y="1207008"/>
            <a:ext cx="3545738" cy="4599432"/>
          </a:xfrm>
          <a:prstGeom prst="roundRect">
            <a:avLst>
              <a:gd name="adj" fmla="val 1805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9341" y="1316736"/>
            <a:ext cx="325313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预期目标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博士论文主体 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SCI 论文 ≥1 篇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形成「表型—结构—组学—因果验证」一体化证据链；为后续基金申报奠定基础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预期目标与成果形式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· 必胜底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结构层面的表型证据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 CIH 海马损伤是否伴随 ERMCS 几何重塑，以及 BHD 的逆转效应。即使后续模块受挫，本层可独立成文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71416" y="1207008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1316736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· 机制深度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下游执行通路锁定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CA1 子区 TMT 组学锁定与 ERMCS 相关的关键下游通路，为后续深入奠定基础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817620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927348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· 因果性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距离梯度因果链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 EML 距离梯度体外验证体系，证明 ERMCS 膜间距与损伤程度、药物效应存在因果联系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71416" y="3817620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3927348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L4 · 最理想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完整机制模型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L1+L2+L3 叠加下游通路确证，形成「几何—过氧化—损伤—干预」闭环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03920" y="1389888"/>
            <a:ext cx="3184855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成果形式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形成博士学位论文主体研究内容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力争发表高质量 SCI 论文 1 篇以上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第一作者机制综述一篇（已完成初稿，拟投稿）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为后续基金申报与成果转化提供依据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48840"/>
            <a:ext cx="960120" cy="868680"/>
          </a:xfrm>
          <a:prstGeom prst="roundRect">
            <a:avLst>
              <a:gd name="adj" fmla="val 10526"/>
            </a:avLst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128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二、研究方法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27980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 20 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33101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 · 三队列 · 形态学 · 组学 · 因果验证 · 统计 · 风险 · 进度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总体技术路线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设计原则：先结构、后组学、再因果 —— 分层推进，避免全链条同时失败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pic>
        <p:nvPicPr>
          <p:cNvPr id="8" name="Image 0" descr="figures/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11185855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动物模型、分组与三队列设计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1118585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造模：21% O₂ →（30 s 内降至）7.5±0.5% O₂ →（30 s 内回升）21%，1 cycle/min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 10:00–16:00 共 6 h，持续 6 周；Sham 组同舱同时段、维持常氧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 SpO₂ 抽测（每组 2–3 只）；W3 中期抽检海马 4-HNE 与 Fe²⁺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三组：Sham（常氧＋生理盐水）／ CIH（＋生理盐水）／ CIH+BHD（7.01 g/kg/d 灌胃）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07208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840480"/>
                <a:gridCol w="4782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分组与样本量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取材时点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主要读出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/ CIH / CIH+BHD，n=8/组，共 24 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W6 慢性时点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MWM、NOR、TEM、PLA、WB、生化、IHC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B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/ CIH / CIH+BHD，n=4/组，共 12 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结束次日晨（不做行为学，避免应激干扰组学）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CA1 显微切割 ＋ TMT 16-plex 蛋白组学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/ CIH，n=8/组，共 16 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单次低氧-复氧循环的复氧相结束即刻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TEM、PLA、4-HNE —— 周期内急性时点证据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62356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总动物数 52 只（24 + 12 + 16），考虑 15% 备用后计划购买 60 只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 C 为什么改为「周期内取材」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40080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原设计：W2 / W4 / W6 三个时点，各 n=4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问题：三个时点均属慢性暴露阶段，结果高度冗余；且各仅 n=4，功效不足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现设计：Sham 与 CIH 两组各 n=8，在单次低氧-复氧循环的复氧相结束即刻灌注取材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与队列 A 的 W6 慢性时点构成「急性 vs 慢性」对照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可检验：接触几何是否随每次复氧发生瞬变，并在慢性期发生漂移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实施提示：须在 6 h 暴露窗口内完成灌注，事前与电镜平台协调档期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Sham 组在同一时钟时点取材，以配平昼夜节律</a:t>
            </a:r>
            <a:endParaRPr lang="en-US" sz="1350" dirty="0"/>
          </a:p>
        </p:txBody>
      </p:sp>
      <p:pic>
        <p:nvPicPr>
          <p:cNvPr id="8" name="Image 0" descr="figures/f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07008"/>
            <a:ext cx="446501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振荡接触模型：队列 C 的理论依据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本课题最具原创性的设计依据 —— 来自课题组已完成综述提出的模型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000" dirty="0"/>
          </a:p>
        </p:txBody>
      </p:sp>
      <p:pic>
        <p:nvPicPr>
          <p:cNvPr id="8" name="Image 0" descr="figures/f1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943600" cy="46908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66560" y="1481328"/>
            <a:ext cx="4922215" cy="1051560"/>
          </a:xfrm>
          <a:prstGeom prst="roundRect">
            <a:avLst>
              <a:gd name="adj" fmla="val 60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03720" y="1572768"/>
            <a:ext cx="4647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　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每次复氧产生瞬时的接触范围/通量脉冲；数周后氧化损伤、系链周转与线粒体碎裂使稳定耦合基线下移 → 急性扩张与慢性破坏是同一过程的两个时间投影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766560" y="2715768"/>
            <a:ext cx="4922215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论证一（钙与氧化物转移）：复氧相重复提供跨接触转移的机会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论证二（氧限制的链式反应 · 第一性原理）：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磷脂过氧化的传播是自由基链式反应，在过氧自由基步骤消耗分子氧 → 组织氧下降时速率受限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Minikes 2025：低氧适应细胞抗铁死亡，且不走经典 PHD–HIF 轴——低氧抑制 KDM6A → 下调 ACSL4/ETNK1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缺氧相攒底物，复氧相才允许链式反应发生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支配变量是复氧转换的次数与陡度，而非平均氧张力（这正是 CIH 区别于持续低氧之处）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可检验预测：累积低氧剂量相同时，少而长的循环应比多而短的循环产生更少的磷脂过氧化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半夏厚朴汤制备、质控与剂量依据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组成：制半夏 12 g、厚朴 9 g、茯苓 12 g、生姜 15 g、紫苏叶 6 g（共 54 g）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制备：10 倍量水浸泡 30 min → 武火煮沸后文火 30 min → 滤过；药渣 8 倍量水复煎 20 min → 合并滤液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水浴浓缩至生药浓度 1.4 g/mL；每批留样 5 mL，−80 ℃ 保存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批次质控：每批煎剂 HPLC 指纹图谱（C18 柱，乙腈-水梯度），重点定量和厚朴酚与厚朴酚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批间和厚朴酚浓度 CV ≤ 15%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剂量 7.01 g/kg/d 的出处：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文献三剂量梯度（3.51 / 7.01 / 14.02 g/kg）中的中剂量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且在 Song 2022（心功能）与 Yang 2024（神经行为）两项独立研究中均为最优剂量</a:t>
            </a:r>
            <a:endParaRPr lang="en-US" sz="1300" dirty="0"/>
          </a:p>
        </p:txBody>
      </p:sp>
      <p:pic>
        <p:nvPicPr>
          <p:cNvPr id="8" name="Image 0" descr="figures/f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模块一：表型与 ERMCS 形态学量化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行为学方案依预实验结果作了修订（详见第 43 页）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0350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行为学：MWM 为海马依赖性记忆主判据，NOR 为次要判据（因两轮预实验 NOR 均未建立有效读出）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NOR 依预实验修正：鼻尖点判定探究行为、熟悉期恢复 2 天、物体与左右位置双重平衡、组间交错随机、≥20 s 预注册排除，全程双盲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病理：HE、Nissl、TUNEL、IHC 三联（4-HNE / Iba1 / GFAP）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 五指标：接触间距、ERMICC、接触覆盖率、≤10 nm 紧密接触比例、线粒体形态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取样量依嵌套数据设计效应测算：ICC=0.2 时每动物约 40 次测量后信息量饱和 → 5–8 神经元 × ≥8 线粒体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95928"/>
          <a:ext cx="60350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检验水准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主要终点（唯一）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ERMICC_std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双侧 α = 0.05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关键次要终点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接触覆盖率、平均最小膜间距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Bonferroni，α = 0.025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探索性终点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≤10 nm 紧密接触比例、ERMICC_tcw、线粒体形态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BH-FDR，须显式标注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687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五个指标须于揭盲前锁定层级</a:t>
            </a:r>
            <a:endParaRPr lang="en-US" sz="1200" dirty="0"/>
          </a:p>
        </p:txBody>
      </p:sp>
      <p:pic>
        <p:nvPicPr>
          <p:cNvPr id="11" name="Image 0" descr="figures/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4830775" cy="4069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5687568"/>
            <a:ext cx="4830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术语：ERMCS 指纳米级结构接触，MAM 保留给生化富集组分 —— 分离结果不得当作接触几何的测量证据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模块一：TEM 取材固定 SOP 与偏倚控制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灌注固定是决定性步骤，优先级高于后固定延迟；逐只记录灌注是否达标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缓冲液优选 0.1 M 二甲砷酸钠替代 PBS；渗透压控制在 300–330 mOsm；加 1–2 mM CaCl₂ 稳定膜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取材后 ≤24 h 内完成 OsO₄ 后固定；若必须延迟，洗去高浓度戊二醛后转存稀固定液，4 ℃ 密封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全组配平铁律：三组必须同批次、同储存时长处理，严禁某组先做另一组后做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系统随机取样（随机起点 + 固定间隔），不得由观察者挑选神经元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线粒体纳入标准不得按「是否有明显接触」筛选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逐只记录戊二醛储存天数，纳入混合模型作协变量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图像采集与 ImageJ 定量全程双盲；两人独立定量，差异 &gt;15% 引入第三方仲裁</a:t>
            </a:r>
            <a:endParaRPr lang="en-US" sz="1300" dirty="0"/>
          </a:p>
        </p:txBody>
      </p:sp>
      <p:pic>
        <p:nvPicPr>
          <p:cNvPr id="8" name="Image 0" descr="figures/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模块一：原位 PLA 与抗体验证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换抗体与设对照都是在下单前完成的核查 —— 这本身就是前期准备的一部分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7665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分子对：IP3R1 × VDAC1/VDAC3；试剂盒 Duolink DUO92101（Mouse/Rabbit）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 侧一抗：Proteintech 19962-1-AP（兔多抗，未偶联）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更换理由：原拟用的 ab5804 官方反应种属不含小鼠、验证应用不含 WB，与本课题 C57BL/6J 小鼠及 WB 需求不匹配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19962-1-AP 反应种属含人/小鼠/大鼠，验证应用含 IHC、WB、FC、IP（观察分子量 290–300 kDa）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mouse-on-mouse 背景问题：VDAC1 一抗为鼠源、组织亦为小鼠脑，探针会结合内源性 IgG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→ 必用 M.O.M. 阻断试剂；设「省略一抗」与「仅加单一支一抗」对照，与实验样本同批处理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指标严格表述为「IP3R1 与 VDAC1/VDAC3 的邻近信号」（ab14734 同时识别 VDAC1 与 VDAC3）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共聚焦：CA1 锥体层每只 5 视野，计数 dots per cell，全程双盲</a:t>
            </a:r>
            <a:endParaRPr lang="en-US" sz="1250" dirty="0"/>
          </a:p>
        </p:txBody>
      </p:sp>
      <p:pic>
        <p:nvPicPr>
          <p:cNvPr id="9" name="Image 0" descr="figures/f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09925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模块二：CA1 子区 TMT 蛋白组学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样本：队列 B 12 只，CIH 结束次日晨集中处理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冰冻切片 20 μm，解剖镜下显微切割 CA1（每只 ≥3 mg），液氮速冻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TMT 16-plex：12 个生物学样本 + 4 个 pooled QC 通道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质谱：Orbitrap Exploris 480 / Q-Exactive HF-X；FDR&lt;1%；蛋白鉴定 ≥6000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差异筛选阈值：|FC| &gt; 1.2 且 P &lt; 0.05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双轴生信解读：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第一轴 — ERMCS 富集分析（GO:0044233 + Sassano 2025 基因集 + MCSdb）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第二轴 — 六类下游通路 GSEA（铁死亡 / 凋亡 / 自噬 / 突触 / 炎症 / 线粒体）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PPI 网络（STRING + Cytoscape），cytoHubba 计算 HUB 蛋白；与已发表 CIH-海马组学数据集横向比较</a:t>
            </a:r>
            <a:endParaRPr lang="en-US" sz="1250" dirty="0"/>
          </a:p>
        </p:txBody>
      </p:sp>
      <p:pic>
        <p:nvPicPr>
          <p:cNvPr id="8" name="Image 0" descr="figures/f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M6 方向决策会议与决策树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 ERMCS 形态学与组学结果共同决定下游深挖方向 —— 全课题的关键节点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2468880"/>
                <a:gridCol w="4690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ERMCS 表现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组学富集最强通路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深挖方向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A–F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显著改变 + BHD 显著逆转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铁死亡 / 凋亡 / 自噬 / 突触 / 炎症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按富集最强通路展开，配合距离梯度因果链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G（阴性）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 Sham 间无显著差异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阴性亦为结论，如实报告；转向预设的 CA3/DG 次要脑区。不得以反复调参直至出现差异的方式处理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H（反方向）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显著减小接触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任一通路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叙事改为「CIH 使 ERMCS 解偶联 / BHD 恢复接触」；配合队列 C 可提出「急性扩张 + 慢性破坏」时程依赖模型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figures/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95928"/>
            <a:ext cx="11185855" cy="19933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模块三：EML 距离梯度因果验证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67512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细胞与模型：HT22 永生化海马神经元；H/R（1% O₂ 4 h → 复氧 12 h）体外模拟 CIH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工具：EML（ER-Mitochondria Linker）系列，Lim 实验室存放于 Addgene，15 / 20 / 30 nm 三档可公开商购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myosin-VI 刚性单 α-helix 为 spacer，将 ER-OMM 距离固定于目标值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转染效率 ≥40%（mRFP⁺ 计数验证）；FACS 分选 mRFP⁺ 细胞后进行 H/R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10 组设计；每组 3 复孔 × ≥4 次独立实验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独立实验次数才是统计单位，复孔仅用于降低技术噪声、不计入 n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五维读出：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① CCK-8 / LDH　② IP3R1-VDAC1/VDAC3 PLA 验证 EML 实际工作　③ BODIPY 581/591 C11 + Liperfluo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④ 依组学结果选 1–2 条通路指标　⑤ mRFP 荧光共定位</a:t>
            </a:r>
            <a:endParaRPr lang="en-US" sz="1250" dirty="0"/>
          </a:p>
        </p:txBody>
      </p:sp>
      <p:pic>
        <p:nvPicPr>
          <p:cNvPr id="8" name="Image 0" descr="figures/f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07008"/>
            <a:ext cx="419069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模块三：核心科学逻辑与统计设计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距离-结局关系的形状不作预设 —— 这正是本模块要回答的问题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形状不预设。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Dematteis 2024（EML 工具原始论文）报告距离与钙转移/氧化代谢呈钟形、峰值约 20 nm；Csordas 2010 独立报告双相效应并提示存在最优间隙宽度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但铁死亡易感性是否同样呈钟形，尚无任何研究在距离梯度上验证过 —— 这正是本实验要回答的问题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两步检验：omnibus ANOVA/K-W 检验整体效应 → 同一模型内并列拟合线性对比与二次对比并同时报告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若真实关系为钟形而检验假定单调，两端效应相互抵消、功效趋近于零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BHD 是否依赖 ERMCS 几何？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预设单一成对比较：G9（H/R + 30 nm-EML + BHD）vs G6（H/R + 30 nm-EML），双侧，Bonferroni α = 0.025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距离 × BHD 交互检验所需样本量约为主效应的 4 倍，功效不足 → 降级为探索性并明确标注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047488"/>
            <a:ext cx="6858000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513892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必讲的呼应：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课题组综述 §8.1 提出，任何针对 ERMCS 的治疗主张都必须检验「当几何被独立操控后保护是否仍存在」—— G9 vs G6 正是这一判据的直接实现。</a:t>
            </a:r>
            <a:endParaRPr lang="en-US" sz="1250" dirty="0"/>
          </a:p>
        </p:txBody>
      </p:sp>
      <p:pic>
        <p:nvPicPr>
          <p:cNvPr id="11" name="Image 0" descr="figures/f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078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统计学方法与质量控制汇总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9494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软件：GraphPad Prism 9.0 / R 4.3 + ggplot2；正态性 Shapiro-Wilk，方差齐性 Levene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三组比较：one-way ANOVA + Tukey HSD（正态）／ Kruskal-Wallis + Dunn（非正态）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时序资料：repeated-measures two-way ANOVA；多组学：Benjamini-Hochberg FDR 校正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TEM 的 ERMCS 指标采用线性混合效应模型：指标 ~ 组别 + (1 | 动物/神经元)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数据为三层嵌套（接触点 ⊂ 神经元 ⊂ 动物），实验单位是动物而非接触点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报告 n 时必须报动物数，严禁以接触点数作 n —— 那构成伪重复，会低估标准误、使 P 值虚低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预设敏感性分析：先在动物层面取均值再作组间比较，两法结论应一致；不一致以混合模型为准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戊二醛储存天数纳入模型作协变量；效应量必报（Cohen's d 或 η²）；全部分析双盲编码</a:t>
            </a:r>
            <a:endParaRPr lang="en-US" sz="1250" dirty="0"/>
          </a:p>
        </p:txBody>
      </p:sp>
      <p:pic>
        <p:nvPicPr>
          <p:cNvPr id="8" name="Image 0" descr="figures/f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207008"/>
            <a:ext cx="391637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主要风险与应对措施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下三项为方法学局限，来自本人综述第七章提出的「决定性实验」判据 —— 主动交代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834640"/>
                <a:gridCol w="5056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 / 局限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可能影响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应对措施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未诱导明显 ERMCS 改变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主假说受挑战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查脑区、时点与制样质量；转 CA3/DG；阴性亦如实报告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几何改变方向与预期相反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叙事需调整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情形 H 对称深挖；配合队列 C 可提出「急性扩张 + 慢性破坏」时程模型，反而更强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EML 到货延迟或转染不足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体外验证延期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提前 M1 订购；联系 Lim 实验室；国内合成兜底；慢病毒 / FACS 富集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 定量者间差异较大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数据稳定性下降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双盲两人独立定量；差异 &gt;15% 第三方仲裁；储存天数纳入协变量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全雄性局限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外推受限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limitations 明确说明；预留雌性小队列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BHD 7.01 g/kg/d 可能存在胃肠道反应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预实验中 CIH+BHD 增重低于 CIH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主实验增加摄食量与饮水量监测；必要时设半剂量组；剂量仍以文献最优中剂量为起点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S1　以 2D TEM 而非 3D / 连续切片电镜量化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无法获得完整三维分布，绝对值不可与外部文献硬比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以组间相对差异为结论依据；系统随机取样；双盲仲裁；可选高压冷冻/冷冻替代佐证。3D EM 列为后续基金方向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S2　队列 C 仅一个周期内时点，非完整相位序列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无法分辨低氧前 / 氧最低点 / 复氧早期 / 恢复后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定位为「首个周期内时点」，受动物数与电镜档期约束；足以回答最小判别问题，完整相位序列另行立项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S3　铁死亡因果依赖组学判定，无遗传操作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若下游确为铁死亡，因果强度弱于完整标准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本课题不预设下游为铁死亡；若组学指向铁死亡，再补做两种机制不同的 rescue 并同测凋亡与炎症通路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研究进度安排（12 个月）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94360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主要内容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阶段里程碑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IACUC 报批；60 只小鼠到货；Addgene 订购 EML 质粒；预实验 P1、P2 启动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动物到位 + 质粒订购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C 启动（复氧相取材）；质粒到货 + 测序验证；TEM 固定延迟自检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周期内数据 + 质粒到位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A、B 启动 CIH + BHD 干预；HT22 转染条件优化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干预启动 + 转染条件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 行为学（MWM 主判据）；队列 B W6 取材送 TMT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行为学 + 组学样本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 取材；TEM / PLA 制样；组学数据采集；HT22 H/R 模型建立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 + PLA + 组学原始数据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双轴生信分析 + 方向决策会议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 关键节点：锁定下游执行通路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M7–M8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按决策会议情形执行深度通路验证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机制验证完成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体外 H/R + EML 距离梯度因果实验（10 组）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距离-表型剂量响应曲线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M10–M12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数据整合、机制图绘制、论文撰写与投稿准备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博士论文主体数据 + 投稿稿件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48840"/>
            <a:ext cx="960120" cy="868680"/>
          </a:xfrm>
          <a:prstGeom prst="roundRect">
            <a:avLst>
              <a:gd name="adj" fmla="val 10526"/>
            </a:avLst>
          </a:prstGeom>
          <a:solidFill>
            <a:srgbClr val="B0833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128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三、研究条件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27980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 20 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33101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学术与技术条件 · 实验设备与平台 · 经费概算及落实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实验平台与技术条件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B08333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研究条件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1234440"/>
                <a:gridCol w="42793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所需平台 / 技术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落实方式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波动风险控制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动物实验平台、CIH 造模舱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每周 SpO₂ 抽测；双 O₂ 监测、漏气报警、紧急制氧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行为学（MWM / NOR / 旷场）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校内共享（已跑通，见第 40–43 页）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全程操作与分析双盲；范式修订已完成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海马病理学与免疫组化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 + 病理科外协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外协 IHC 60 张，统一批次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透射电镜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校内共享平台（需预约档期）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标准化固定 SOP、全组配平、系统随机取样、双盲两人独立定量 + 第三方仲裁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共聚焦显微平台（PLA）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四类对照同批处理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蛋白组学（TMT 16-plex）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外协成熟路径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单独设组学队列避免行为学应激；4 个 pooled QC 通道；CV&lt;20%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分子生物学与细胞培养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课题组 + 校内共享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转染效率预实验验证（P5）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经费概算与落实路径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B08333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研究条件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总预算 14.85 万元，严格控制在 15 万元以内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481328"/>
          <a:ext cx="4937760" cy="4507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81328"/>
          <a:ext cx="59280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2770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金额（万元）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主要用途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材料费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6.95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动物、药材、抗体、试剂盒、Addgene 质粒、细胞培养耗材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测试化验加工费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5.90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TMT 组学、TEM、PLA、共聚焦机时、外协检测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劳务费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研究生劳务及临时辅助工作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出版 / 文献费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论文发表、文献获取与知识产权申请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差旅费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学术交流与平台对接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14.85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严格控制在 15 万元以内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60720" y="5257800"/>
            <a:ext cx="5928055" cy="914400"/>
          </a:xfrm>
          <a:prstGeom prst="roundRect">
            <a:avLst>
              <a:gd name="adj" fmla="val 7000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16168" y="5340096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落实策略　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核心问题优先（主队列 + TMT 组学 + EML 因果验证）；拓展验证递进（入脑活性成分、靶向氧化脂质组按中期结果择机启动）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48840"/>
            <a:ext cx="960120" cy="868680"/>
          </a:xfrm>
          <a:prstGeom prst="roundRect">
            <a:avLst>
              <a:gd name="adj" fmla="val 10526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128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四、文献综述及研究基础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27980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 30 分 —— 分值最高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33101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检索策略 · 证据分级 · 竞争模型 · 已完成综述 · 预实验结果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文献检索策略与范围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该检索已形成一篇第一作者综述（详见第 39 页）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4922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数据库：PubMed + Web of Science，建库至 2026 年 7 月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四组检索词交叉：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暴露 — intermittent hypoxia / obstructive sleep apnea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死亡程序 — ferroptosis / lipid peroxidation / GPX4 / ACSL4 / labile iron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细胞器界面 — ER–mitochondria contact site / MAM / tethering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结局 — hippocampus / CA1 / cognition / synaptic plasticity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手工筛查核心机制文献的参考文献与引证文献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因直接相关文献极少，不设最低质量过滤；改为逐篇标注证据等级与实验系统</a:t>
            </a:r>
            <a:endParaRPr lang="en-US" sz="1300" dirty="0"/>
          </a:p>
        </p:txBody>
      </p:sp>
      <p:pic>
        <p:nvPicPr>
          <p:cNvPr id="9" name="Image 0" descr="figures/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37357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证据地图与四级分级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直接复用综述 Table 1（精简为 4 行）· 分级：Direct / Supportive / Extrapolated / Unknown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3200400"/>
                <a:gridCol w="3429000"/>
                <a:gridCol w="1170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证据域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实验系统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已直接证明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 CIH 海马 CA1 仍未证明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与认知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大鼠 / 小鼠在体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空间学习、氧化应激、CA1 突触可塑性改变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低氧血症、睡眠片段化与共病的相对贡献未分离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Direct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与铁死亡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大鼠海马；幼鼠前额叶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Fe²⁺、脂质过氧化、GPX4/ACSL4 改变；药物挽救改善认知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无研究在同批动物中同时具备 CA1 分辨率与 ERMCS 测量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Direct（不完整）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ERMCS 过氧化热点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人/鼠细胞系；化学诱导；非 CIH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磷脂氢过氧化物起于 ERMCS 并向线粒体扩散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 CIH 神经元的适用性；每个循环内首发事件的方向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Extrapolated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与接触重塑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小鼠心肌；小鼠脑 DA 神经元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破坏 MAM 信号；破坏 Mfn2–Plin5 系链且恢复系链具保护性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海马接触是扩张、解偶联还是振荡；是否存在细胞类型差异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Supportive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铁死亡与 ERMCS 研究进展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545738" cy="2194560"/>
          </a:xfrm>
          <a:prstGeom prst="roundRect">
            <a:avLst>
              <a:gd name="adj" fmla="val 291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2531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2017 · Science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PDZD8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哺乳动物神经元 ER–线粒体锚定的重要分子 → 神经系统接触稳态具有明确分子基础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207008"/>
            <a:ext cx="3545738" cy="2194560"/>
          </a:xfrm>
          <a:prstGeom prst="roundRect">
            <a:avLst>
              <a:gd name="adj" fmla="val 291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1316736"/>
            <a:ext cx="32531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· Commun Biol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距离本身是参数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ER–线粒体距离是决定线粒体 Ca²⁺ 摄取与氧化代谢效率的关键参数，且呈钟形、峰值约 20 nm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43037" y="1207008"/>
            <a:ext cx="3545738" cy="2194560"/>
          </a:xfrm>
          <a:prstGeom prst="roundRect">
            <a:avLst>
              <a:gd name="adj" fmla="val 291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9341" y="1316736"/>
            <a:ext cx="32531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· Nat Cell Biol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空间首发热点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ERMCS 是磷脂过氧化的首发热点；人为改变接触几何可改变铁死亡敏感性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630168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7216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关键补注：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在该模型中，局部磷脂氢过氧化物在时间上先于可测的接触扩张。因此「空间首发热点」≠「时间起始事件」——接触几何更可能控制过氧化的传播与放大。</a:t>
            </a:r>
            <a:endParaRPr lang="en-US" sz="1350" dirty="0"/>
          </a:p>
        </p:txBody>
      </p:sp>
      <p:pic>
        <p:nvPicPr>
          <p:cNvPr id="15" name="Image 0" descr="figures/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636008"/>
            <a:ext cx="11185855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核心分歧：ERMCS 在损伤中是扩张还是破坏？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本课题不预设方向，采用双侧检验，由数据判定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2908" cy="1874520"/>
          </a:xfrm>
          <a:prstGeom prst="roundRect">
            <a:avLst>
              <a:gd name="adj" fmla="val 3415"/>
            </a:avLst>
          </a:prstGeom>
          <a:solidFill>
            <a:srgbClr val="EDF3FA"/>
          </a:solidFill>
          <a:ln w="12700">
            <a:solidFill>
              <a:srgbClr val="C4D9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1572768"/>
            <a:ext cx="51403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 接触扩张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Sassano 2025 · 肿瘤细胞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Yan 2026 · 鱼肝细胞（持续低氧）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Jiang 2026 · 小鼠脊髓神经元（SCI）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55868" y="1463040"/>
            <a:ext cx="5432908" cy="1874520"/>
          </a:xfrm>
          <a:prstGeom prst="roundRect">
            <a:avLst>
              <a:gd name="adj" fmla="val 3415"/>
            </a:avLst>
          </a:prstGeom>
          <a:solidFill>
            <a:srgbClr val="FBEEEC"/>
          </a:solidFill>
          <a:ln w="12700">
            <a:solidFill>
              <a:srgbClr val="E8C4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2172" y="1572768"/>
            <a:ext cx="51403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 接触破坏 / 系链解体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Moulin 2022 · 小鼠心 ＋ 人心房（IH 21 d）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Zhai 2026 · 小鼠脑 DA 神经元（CIH）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3538728"/>
            <a:ext cx="65836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注意：提示破坏的两项恰是「间歇低氧 ＋ 哺乳动物在体」，与本课题模型最接近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Jiang 2026 需单独交代：目前最强的 in vivo 神经元 contact-upstream 证据（SCD1 缺失先于并导致接触异常扩张，SCD1 回补与 LXRα 激动可逆转），且双向可操控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但脊髓损伤是单次急性机械损伤、无复氧循环，与 CIH 的暴露结构不同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故本课题对全部几何终点采用双侧检验，方向由数据判定</a:t>
            </a:r>
            <a:endParaRPr lang="en-US" sz="1250" dirty="0"/>
          </a:p>
        </p:txBody>
      </p:sp>
      <p:pic>
        <p:nvPicPr>
          <p:cNvPr id="13" name="Image 0" descr="figures/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538728"/>
            <a:ext cx="4282135" cy="245059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竞争模型与证伪标准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直接复用综述 Table 2 · 本课题采用第三行的振荡接触模型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200400"/>
                <a:gridCol w="2679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预测的首发事件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接触解偶联后的预测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什么结果会削弱它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Bulk ER-first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弥散 / 分布式的 ER 磷脂过氧化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早期 ER 氧化仍在，线粒体扩散可改变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解偶联在 ER 整体氧化态改变之前即消除早期氧化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Contact-amplifier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ERMCS 亚域的局部磷脂氢过氧化物，随后接触扩张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初始 ER 氧化可能仍在，但传播与线粒体 ROS 减少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几何操控既不改变局部氧化，也不改变其跨细胞器传播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Oscillatory contact（本课题采用）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复氧相关联的接触范围或通量脉冲，叠加稳定耦合的缓慢丧失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可诱导的、标定的解偶联可减少相位关联氧化与累积损伤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高时间分辨成像显示跨循环与慢性暴露中几何稳定且单调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44068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本课题预先写明什么结果会推翻自己的模型 —— 队列 C 与 EML 距离梯度就是按最右一列的判据设计的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半夏厚朴汤研究进展与不足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半夏厚朴汤源自《金匮要略》，现代药理提示抗炎、抗氧化、调节应激反应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Song 2022：减轻 CIH 诱导的心肌铁毒性损伤与线粒体超微结构破坏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Yang 2024：抑制 CIH 小鼠脑内铁超载与神经炎症，改善神经元损伤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剂量学基础明确：7.01 g/kg/d 为两项独立研究三剂量梯度中的最优中剂量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三个未回答的问题：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① CIH 是否诱导海马神经元 ERMCS 几何重塑？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② BHD 的保护是否依赖该重塑的逆转？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③ 几何变化与下游损伤之间是否存在剂量-反应关系？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综述判据：现有 BHD 研究均未证明 CA1 铁死亡，也未证明 ERMCS 正常化</a:t>
            </a:r>
            <a:endParaRPr lang="en-US" sz="1300" dirty="0"/>
          </a:p>
        </p:txBody>
      </p:sp>
      <p:pic>
        <p:nvPicPr>
          <p:cNvPr id="8" name="Image 0" descr="figures/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前期工作基础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11185855" cy="1572768"/>
          </a:xfrm>
          <a:prstGeom prst="roundRect">
            <a:avLst>
              <a:gd name="adj" fmla="val 4651"/>
            </a:avLst>
          </a:prstGeom>
          <a:solidFill>
            <a:srgbClr val="FBF3E2"/>
          </a:solidFill>
          <a:ln w="19050">
            <a:solidFill>
              <a:srgbClr val="B08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335024"/>
            <a:ext cx="10783519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B08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已完成第一作者机制综述　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罗玲 第一作者 / 吕洋 通讯作者　·　状态：初稿已完成、拟投稿　·　正文九章 + 5 图 2 表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i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Oscillating ER–Mitochondria Contacts in Chronic Intermittent Hypoxia: A Falsifiable Framework for Ferroptosis and Cognitive Impairment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提出振荡接触模型（第 17 页）　→ 建立四级证据分级（第 34 页）　→ 给出三模型证伪标准（第 37 页）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3545738" cy="2057400"/>
          </a:xfrm>
          <a:prstGeom prst="roundRect">
            <a:avLst>
              <a:gd name="adj" fmla="val 3111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" y="3072384"/>
            <a:ext cx="325313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文献调研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三库四组检索词交叉检索（见第 33 页）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形成三条证据链梳理与研究空白定位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核心引用【填】篇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2978" y="2962656"/>
            <a:ext cx="3545738" cy="2057400"/>
          </a:xfrm>
          <a:prstGeom prst="roundRect">
            <a:avLst>
              <a:gd name="adj" fmla="val 3111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9282" y="3072384"/>
            <a:ext cx="325313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方案迭代收敛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V1.0 全押铁死亡（高崩盘）→ V3.0 ERMCS 降级（事后判定为失误）→ V4.0 质粒获取风险 → V4.1 改用可商购 EML → V4.2–4.5 逐项闭合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每一版由一次风险识别驱动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43037" y="2962656"/>
            <a:ext cx="3545738" cy="2057400"/>
          </a:xfrm>
          <a:prstGeom prst="roundRect">
            <a:avLst>
              <a:gd name="adj" fmla="val 3111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9341" y="3072384"/>
            <a:ext cx="325313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方法学准备成果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 五指标体系 + 三级终点分层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SOP 与配平铁律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取样量设计效应测算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抗体种属核查与更换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EML 引文一手核实与更正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5093208"/>
            <a:ext cx="11185855" cy="658368"/>
          </a:xfrm>
          <a:prstGeom prst="roundRect">
            <a:avLst>
              <a:gd name="adj" fmla="val 9722"/>
            </a:avLst>
          </a:prstGeom>
          <a:solidFill>
            <a:srgbClr val="EDF3FA"/>
          </a:solidFill>
          <a:ln w="19050">
            <a:solidFill>
              <a:srgbClr val="1F6F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157216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已完成预实验：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 Pilot V4.5 赛道 A 体内预实验（Sham / CIH / CIH+BHD 各 n=3，CIH 4 周）—— 造模成立　→ 详见后四页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预实验：设计与造模验证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Pilot V4.5 赛道 A　·　C57BL/6J 雄性 9 只，Sham / CIH / CIH+BHD 各 n=3　·　CIH 4 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58064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造模：21% O₂ 经 30–60 s 降至 7.5±0.5% O₂ 后恢复，1 min/cycle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10:00–16:00（6 h/d），连续 4 周；Sham 同舱同时段持续 21% O₂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给药：每日进舱前 30 min 灌胃，1.4 g/mL、7.01 g/kg/d、100 µL/只；对照组等体积生理盐水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读出：体重每周 1 次共 5 次；造模结束后行新物体识别（熟悉期与测试期各 300 s）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判读规则（预设）：n=3/组统计效力不足，以方向性判断为主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P&lt;0.10 或 |d|≥0.8 视为方向性信号；不以 P 值作唯一依据，不以本轮效应量推算主实验样本量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结论：4 周造模成立 —— 三组增重数值范围完全不重叠（ANOVA P&lt;0.001）</a:t>
            </a:r>
            <a:endParaRPr lang="en-US" sz="1200" dirty="0"/>
          </a:p>
        </p:txBody>
      </p:sp>
      <p:pic>
        <p:nvPicPr>
          <p:cNvPr id="9" name="Image 0" descr="figures/f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463040"/>
            <a:ext cx="505937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预实验：运动与探索动机指标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四项指标方向一致：Sham 正常 → CIH 恶化 → CIH+BHD 回复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000" dirty="0"/>
          </a:p>
        </p:txBody>
      </p:sp>
      <p:pic>
        <p:nvPicPr>
          <p:cNvPr id="8" name="Image 0" descr="figures/f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11185855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预实验：新物体识别未建立有效读出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主动交代：本轮不足以判断 CIH 对识别记忆的影响，亦不足以判断 BHD 的干预效应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1000" dirty="0"/>
          </a:p>
        </p:txBody>
      </p:sp>
      <p:pic>
        <p:nvPicPr>
          <p:cNvPr id="8" name="Image 0" descr="figures/f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537960" cy="4690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481328"/>
            <a:ext cx="4327855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组间无差异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DI：Sham 0.31±0.45、CIH 0.24±0.07、CIH+BHD 0.42±0.39（F=0.20，P=0.826）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新物体探索占比 65.4% / 62.1% / 70.9%，结论一致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内部效度不成立（关键）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Sham 组 DI 未显著偏离 0（P=0.356，95% CI −0.81 至 +1.42）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组内新旧物体探索时间亦无差异（P=0.393）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质控：测试期探索时长达 20 s 阈值者仅 3/9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CIH+BHD 组 0/3，其 DI 由 3.95–16.14 s 的极短探索时长算出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探索样本量不足是 DI 波动过大的直接原因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预实验局限与主实验优化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本轮行为学的局限主要来自方法学而非样本量 —— 逐项已有修正方案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97680"/>
                <a:gridCol w="6428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本轮的问题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主实验的修正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探索行为以身体中心点落区计时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改用鼻尖点判定（朝向物体、距离 ≤2 cm、伴嗅闻或触碰）；抽 2–3 只视频人工双盲计时校验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熟悉期训练量不足：原定 2 天，实际执行 1 天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恢复 2 天训练（探索时长普遍偏低与位置偏好未消除的可能原因）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物体与位置未做平衡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新物体的种类与左右位置在动物间做双重平衡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运行顺序与分组共线（Sham → CIH+BHD → CIH 固定顺序）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改为组间交错随机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软件「活跃状态」模块参数未配置，该模块数据无效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主实验前完成阈值设定；本轮已将该模块排除在分析之外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CIH+BHD 增重低于 CIH（1.30 vs 2.40 g）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提示可能存在胃肠道反应或摄食抑制；增加摄食量与饮水量监测，并考虑设置半剂量组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5376672"/>
            <a:ext cx="11185855" cy="804672"/>
          </a:xfrm>
          <a:prstGeom prst="roundRect">
            <a:avLst>
              <a:gd name="adj" fmla="val 7955"/>
            </a:avLst>
          </a:prstGeom>
          <a:solidFill>
            <a:srgbClr val="EDF3FA"/>
          </a:solidFill>
          <a:ln w="20320">
            <a:solidFill>
              <a:srgbClr val="1F6FB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04088" y="5468112"/>
            <a:ext cx="10783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按预实验方案 V4.5 的判读规则：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海马 CA1 TEM 的 ERMCS 量化是决定主实验能否开展的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唯一核心指标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；行为学本轮未获支持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不构成 No-Go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，但提示 NOR 流程须在主实验前完成优化。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后续预实验计划（M1–M2）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8F3EC"/>
          </a:solidFill>
          <a:ln w="19050">
            <a:solidFill>
              <a:srgbClr val="5B9E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2618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B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✔ 已完成：CIH 造模有效性验证（Pilot V4.5，n=3/组，4 周）　　✔ 已完成：行为学流程预试 —— 识别六项方法学问题并完成方案修订</a:t>
            </a:r>
            <a:endParaRPr lang="en-US" sz="12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56816"/>
          <a:ext cx="1118585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14600"/>
                <a:gridCol w="822960"/>
                <a:gridCol w="3931920"/>
                <a:gridCol w="3456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待验证事项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通过判读标准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不通过 → 处置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行为学范式修正后复测（六项修正落实）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组 DI 显著 &gt; 0；鼻尖点评分与人工盲法计时 ICC ≥0.80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改人工盲法计时；MWM 作为唯一记忆学主判据；NOR 仅作次要报告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IP3R1 一抗验证（19962-1-AP 于小鼠海马）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IHC-P 在 CA1 呈预期分布；PLA 四类对照背景可接受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更换 ER 侧抗体，保持一鼠一兔搭配，PLA 试剂盒不变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 固定延迟敏感性自检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M1–M2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同一动物组织分第 1 天与第 4–5 天上锇酸，比较 ERMICC / ≤10 nm 比例 / 膜间距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据实测差异固化储存天数安全上限；储存天数纳入模型作协变量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EML 质粒到货与测序验证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Addgene 到货，测序比对与 15/20/30 nm 构建一致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联系存放者 Lim 实验室；国内基因合成兜底（4–6 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HT22 转染效率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M2–M3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mRFP⁺ 细胞占比 ≥40%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换 jetOPTIMUS；慢病毒包装；FACS 分选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造模深度验证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M1–M6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每周 SpO₂ 抽测；W3 中期抽检海马 4-HNE 与 Fe²⁺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检查低氧舱参数与循环曲线；必要时延长造模周期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89788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每一项关键假设都有明确的验证时点与不通过处置路径 —— 不存在「赌一把」的环节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48840"/>
            <a:ext cx="960120" cy="868680"/>
          </a:xfrm>
          <a:prstGeom prst="roundRect">
            <a:avLst>
              <a:gd name="adj" fmla="val 10526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128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五、总结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27980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 10 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33101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表达能力 · 总结与提炼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　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本课题回答一个问题：慢性间歇性低氧是否通过内质网-线粒体接触点的几何重塑放大海马神经元损伤，半夏厚朴汤能否通过纠正该重塑发挥保护。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采用「先结构、后组学、再因果」三层递进路径；几何改变的方向与距离-结局关系的形状均不预设，由数据判定；并预先写明什么结果会推翻本模型。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已有第一作者同题机制综述与造模有效性预实验作为基础；技术路径、经费测算与风险预案明确，具备可实施性。</a:t>
            </a:r>
            <a:endParaRPr lang="en-US" sz="1500" dirty="0"/>
          </a:p>
        </p:txBody>
      </p:sp>
      <p:pic>
        <p:nvPicPr>
          <p:cNvPr id="4" name="Image 0" descr="figures/f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371600"/>
            <a:ext cx="4419295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感谢导师与各共享实验平台的支持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完整参考文献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按引用顺序排列；核心 14 篇 + 本次新增 8 篇（Minikes 2025、Hambright 2017、Jiang 2026、Zhai 2026、Moulin 2022、Yan 2026、Csordas 2010/2018、Dematteis 2024）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造模参数与 SpO₂ 监测细节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循环曲线图；每周抽测记录表；低氧舱安全措施（双 O₂ 监测、漏气报警、紧急制氧）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 五指标完整定义与计算公式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ERMICC 计算式；接触覆盖率定义；≤10 nm 判定规则；线粒体形态四参数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样本量与设计效应测算过程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ICC=0.2 下每动物测量数与有效独立观测数的对应关系（40 次≈4.55；120 次≈4.84）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EML 质粒清单与四级获取路径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Addgene 编号；引文更正说明（原误记作者、期刊、实验室三项均误）；国内合成兜底方案与成本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抗体清单与种属 / 应用核查表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逐条列出反应种属、验证应用、稀释比；标注 ab5804 → 19962-1-AP 的更换依据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组学决策树完整八情形表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情形 A–H 全表，含 ERMCS 表现、组学富集、深挖方向与目标期刊层级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伦理、3R 与数据管理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IACUC 批件状态；3R 原则的队列设计体现；原始数据按 FAIR 原则归档（GEO / PRIDE）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经费明细两张表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材料费明细（含 Addgene 质粒采购说明）；测试化验加工费明细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与已发表 CIH-海马蛋白组学数据集的横向比较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拟比较的公开数据集列表与比较维度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博士学位论文开题报告</dc:title>
  <dc:subject>PptxGenJS Presentation</dc:subject>
  <dc:creator>罗玲</dc:creator>
  <cp:lastModifiedBy>罗玲</cp:lastModifiedBy>
  <cp:revision>1</cp:revision>
  <dcterms:created xsi:type="dcterms:W3CDTF">2026-08-03T15:08:27Z</dcterms:created>
  <dcterms:modified xsi:type="dcterms:W3CDTF">2026-08-03T15:08:27Z</dcterms:modified>
</cp:coreProperties>
</file>